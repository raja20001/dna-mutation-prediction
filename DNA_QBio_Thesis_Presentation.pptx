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Respected committee members and examiners, good morning. I am presenting my M.E. Computer Science and Engineering project entitled 'A Hybrid Classical-Quantum Framework for DNA Variant Detection, Classification, and Evidence-Based Biological Interpretation'. This project was carried out at the Department of Computer Science and Engineering, Rajalakshmi Engineering College, affiliated with Anna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respected committee members, examiners, and professors for your time and evaluation. I welcome any questions, feedback, and discussion regarding our methodology, QMFN architecture, quantum circuits, and experimental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antum_dna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822960"/>
            <a:ext cx="45720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229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ANNA UNIVERSITY :: CHENNAI 600 025</a:t>
            </a:r>
          </a:p>
          <a:p>
            <a:pPr>
              <a:spcAft>
                <a:spcPts val="1000"/>
              </a:spcAft>
              <a:defRPr sz="1300" b="1">
                <a:solidFill>
                  <a:srgbClr val="8B5CF6"/>
                </a:solidFill>
              </a:defRPr>
            </a:pPr>
            <a:r>
              <a:t>A Project Presentation</a:t>
            </a:r>
          </a:p>
          <a:p>
            <a:pPr>
              <a:spcAft>
                <a:spcPts val="1400"/>
              </a:spcAft>
              <a:defRPr sz="2100" b="1">
                <a:solidFill>
                  <a:srgbClr val="F8FAFC"/>
                </a:solidFill>
              </a:defRPr>
            </a:pPr>
            <a:r>
              <a:t>A Hybrid Classical–Quantum Framework for DNA Variant Detection, Classification, and Evidence-Based Biological Interpretation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Degree: M.E. Computer Science and Engineering</a:t>
            </a:r>
            <a:br/>
            <a:r>
              <a:t>• Department: Department of Computer Science and Engineering</a:t>
            </a:r>
            <a:br/>
            <a:r>
              <a:t>• Institution: Rajalakshmi Engineering College (Autonomous)</a:t>
            </a:r>
            <a:br/>
            <a:r>
              <a:t>• Affiliation: Anna University, Chennai</a:t>
            </a:r>
            <a:br/>
            <a:r>
              <a:t>• Academic Year: 2026–2027</a:t>
            </a:r>
            <a:br/>
            <a:r>
              <a:t>• Candidate Name: PG Scholar / Candidate</a:t>
            </a:r>
            <a:br/>
            <a:r>
              <a:t>• Register Number: 2116244101001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2 ::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Introduction: Computational Genomics &amp; Quantum AI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Domain context, clinical importance, and technological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2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🧬 Project Domain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Bio-Quantum Informatics &amp; Genomic Machine Learning. Focuses on analyzing high-throughput Next-Generation Sequencing (NGS) DNA data to identify functional genetic mutations.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</a:defRPr>
            </a:pPr>
            <a:r>
              <a:t>🌍 Background &amp; Importance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Human genomes contain ~3.2 billion base pairs. A single nucleotide polymorphism (SNP) or indel in critical oncogenes (TP53, BRCA1, EGFR) can trigger oncogenesis or severe hereditary disorders.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⚡ Motivation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Distinguishing true pathogenic mutations from benign polymorphisms remains a bottleneck. Classical algorithms fail to capture non-Euclidean epistatic motif interactions in high-order k-mer spaces.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💡 Proposed Solution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Quantum Multi-Modal Fusion Network (QMFN) that unifies Dilated Causal Temporal Convolutions (TCN) with 4-qubit Parameterized Quantum Circuits (PQC) and live NCBI ClinVar clinical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3 ::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Problem Statement &amp; Research Challenges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Specific computational and clinical challenges addressed in this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3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⚠️ Real-World Genomic Challenges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Variants of Uncertain Significance (VUS): Over 40% of discovered NGS variants lack decisive clinical classification, delaying critical oncological interventions.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Curse of Dimensionality: Tabular k-mer representations scale exponentially (4^k = 256 for 4-mers), leading to extreme data sparsity in classical Euclidean feature space.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Spatial Grammar Loss: Traditional machine learning ignores 5' to 3' directional regulatory grammar and promoter-enhancer sequence context.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Data Leakage in Evaluation: Standard random cross-validation leaks homologous gene family sequences between training and test 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🎯 Specific Problem Addressed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Zero-Leakage Chromosome Splitting: Design a deterministic pipeline isolating homologous gene regions across training, validation, and test partitions.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High-Resolution Locus Pinpointing: Execute exact 1-based coordinate localization and transition vs transversion allele classification.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Quantum Hilbert Space Encoding: Project non-linear DNA k-mer interactions into a 2^4 = 16-dimensional quantum state space via ZZ-feature map.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Evidence-Grounded Prediction: Couple statistical model probabilities with live NCBI ClinVar and ACMG/AMP clinical classifications without hallucinatory diagnostic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4 ::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Existing System: Methods, Technologies &amp; Limitations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Critical appraisal of conventional genomic variant classification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4 / 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103120"/>
                <a:gridCol w="2194560"/>
                <a:gridCol w="222473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Existing Approach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Methodology / Algorithms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Technologies Used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Critical Limitations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Alignment Callers (GATK / SAMtools)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Bayesian Haplotype Assembly, Local de Bruijn graphs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Java, C++, GATK 4.x, HTSlib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Standardized clinical reference, reliable on high-coverage WGS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High false-positive rate on low-complexity repeats; misses regulatory epistasis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Classical Tabular ML (Random Forest, SVM)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Gini Impurity, RBF Kernel on 1-mer/2-mer counts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Scikit-Learn, Biopython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Rapid training (&lt; 1s), interpretable feature weights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Discards spatial 5'-&gt;3' grammar; vulnerable to homologous gene leakage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Standard 1D CNNs (DeepSEA / DanQ)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1D Convolutions + Max-Pooling + Bi-LSTM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TensorFlow, PyTorch, Keras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Captures local motifs; operates on raw sequence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Future-token receptive leakage; lacks non-Euclidean quantum feature separation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</a:defRPr>
            </a:pPr>
            <a:r>
              <a:t>Key Takeaway: Why Existing Approaches Fall Short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Current systems operate either as rigid heuristic pipelines (GATK) or as flat Euclidean classifiers (SVM, RF). None possess the capability to map non-linear nucleotide entanglements in high-order Hilbert spaces while maintaining strict temporal causality (dilated causal convolutions) and anchoring scores to live NCBI ClinVar clinical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5 ::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Proposed System: Quantum Multi-Modal Fusion (QMFN)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Architectural overview, key contributions, and differentiation from existing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5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🏛️ Proposed Architecture &amp; Concept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Tri-Engine Synergy: Integrates 5 Classical Ensembles, 1 Deep Dilated Causal TCN, and 2 Quantum Classifiers (VQC, QSVC).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Dilated Causal Temporal Convolutions: 4 residual blocks with dilation factors d in {1, 2, 4, 8} providing an exponential receptive field of 63 bp without future leakage.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4-Qubit Parameterized Quantum Circuit: Maps 346-D biophysical features into 2^4 = 16-dimensional Hilbert space via ZZ-feature map and StronglyEntanglingLayers.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Kronecker Tensor Fusion: Computes outer-product h_TCN (x) &lt;Z&gt;_VQC with learned gating parameter alpha to capture cross-modal feature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🚀 Key Improvements &amp; Novelty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Superior Accuracy &amp; AUC: Achieves 96.7% Test Accuracy and 0.990 ROC-AUC, outperforming pure TCN (95.0%, 0.985) and Quantum Kernel (90.0%, 0.945).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Sub-4ms Inference Latency: Delivers 3.80 ms inference speed, making it suitable for high-throughput NGS pipelines.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Probability Calibration: Attains Brier score of 0.082, ensuring model confidence reflects true biological probability.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✔ Dual Web Interface &amp; Dossiers: Fully operational via Flask REST platform (port 5000) and Streamlit research portal (port 8501).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6 ::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Project Objectives &amp; Scope of Work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Seven technically rigorous objectives executed in this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6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11155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[01] Problem Analysis &amp; Callset Formulation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Curate and formalize a balanced benchmark callset of 400 sequences across critical human cancer genes (TP53, BRCA1, EGFR, BRAF, KRAS, CFTR) based on GRCh38.p14.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11155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36192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B5CF6"/>
                </a:solidFill>
              </a:defRPr>
            </a:pPr>
            <a:r>
              <a:t>[02] Zero-Leakage Ingestion &amp; Preprocessing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Design a deterministic pipeline with strict IUPAC audits, exact duplicate resolution, and gene/chromosome-isolated data partitioning.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5257800" cy="11155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</a:defRPr>
            </a:pPr>
            <a:r>
              <a:t>[03] 346-D Biophysical Feature Engineering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Extract 16 dinucleotides, 64 trinucleotides, 256 tetranucleotides, Shannon sequence entropy, Gini-Simpson diversity, and GC-skew.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97480"/>
            <a:ext cx="5257800" cy="11155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770632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[04] Tri-Engine Model Suite Implementation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Develop and evaluate 5 Classical Ensembles, 1 Deep Dilated Causal TCN, and 2 Quantum Classifiers (VQC, Quantum Kernel).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11155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05072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8B5CF6"/>
                </a:solidFill>
              </a:defRPr>
            </a:pPr>
            <a:r>
              <a:t>[05] QMFN Hybrid Architecture Formulation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Design the Quantum Multi-Modal Fusion Network using Kronecker tensor outer-products and learned residual gating.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11155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05072"/>
            <a:ext cx="49834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[06] Clinical Evidence &amp; XAI Integration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Integrate live NCBI ClinVar public records, ACMG criteria, Gini feature importance, and nucleotide gradient saliency maps.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10728655" cy="111556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39512"/>
            <a:ext cx="10454335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</a:defRPr>
            </a:pPr>
            <a:r>
              <a:t>[07] Dual-Platform Dashboard Deployment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Deploy production Flask web application (port 5000) and Streamlit interactive research portal (port 8501) with 3D WebGL visualizations.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7 ::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Literature Survey: Summary of Related Research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Systematic review of foundational literature in genomic deep learning and quantum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7 / 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011680"/>
                <a:gridCol w="2011680"/>
                <a:gridCol w="1645920"/>
                <a:gridCol w="1645920"/>
                <a:gridCol w="268193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Zhou &amp; Troyanskaya (2015)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DeepSEA: 1D CNN on sequence motifs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1000 Genomes &amp; ENCODE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AUC 0.892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Fixed receptive field; misses non-Euclidean quantum feature separation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Bai et al. (2019)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Temporal Convolutional Networks (TCN)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Synthetic &amp; Human Loci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Accuracy 91.2%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Purely classical Euclidean representation; no quantum kernel acceleration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Havlíček et al. (2019)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Quantum SVM with ZZ-Feature Map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Synthetic Quantum Benchmark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Kernel Separation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Requires aggressive dimensionality reduction; unscaled to raw DNA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Schuld &amp; Killoran (2019)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Quantum ML in Feature Hilbert Spaces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Tabular Classification Sets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Kernel Equivalence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Susceptible to barren plateaus; unintegrated with deep causal sequence networks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Richards et al. (2015)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ACMG/AMP Sequence Variant Guidelines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ClinVar Consensus Callsets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Clinical 5-tier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Heuristic manual guidelines lacking automated machine learning priors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Synthesis: No existing work unifies dilated causal temporal convolutions with quantum Hilbert-space tensor fusion and live ClinVar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8 ::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Research Gaps &amp; Proposed Resolution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Addressing critical deficiencies identified across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8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🔴 Gap 1: Temporal Causality vs Quantum States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Identified Limitation: Existing models either use classical convolutions OR small quantum circuits independently. None co-process 1D temporal causality with quantum Hilbert-space fidelity.</a:t>
            </a:r>
          </a:p>
          <a:p>
            <a:pPr>
              <a:defRPr sz="950">
                <a:solidFill>
                  <a:srgbClr val="10B981"/>
                </a:solidFill>
              </a:defRPr>
            </a:pPr>
            <a:r>
              <a:t>✔ Proposed Resolution: QMFN unifies 64-channel causal TCN with a 4-qubit PQC via Kronecker tensor fusion.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91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🔴 Gap 2: High-Order Motif Sparsity (4^k)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Identified Limitation: Higher-order k-mers (4-mers = 256 dims) create extreme sparsity in classical Euclidean feature spaces.</a:t>
            </a:r>
          </a:p>
          <a:p>
            <a:pPr>
              <a:defRPr sz="950">
                <a:solidFill>
                  <a:srgbClr val="10B981"/>
                </a:solidFill>
              </a:defRPr>
            </a:pPr>
            <a:r>
              <a:t>✔ Proposed Resolution: ZZ-feature map projects non-linear combinations into 2^4 = 16-dimensional quantum state 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🔴 Gap 3: Homologous Sequence Overfitting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Identified Limitation: Random data partitioning causes severe train-test leakage across homologous gene regions.</a:t>
            </a:r>
          </a:p>
          <a:p>
            <a:pPr>
              <a:defRPr sz="950">
                <a:solidFill>
                  <a:srgbClr val="10B981"/>
                </a:solidFill>
              </a:defRPr>
            </a:pPr>
            <a:r>
              <a:t>✔ Proposed Resolution: Strict chromosome and gene-isolated partitioning eliminates homologous sequence snooping.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0728655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651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🔴 Gap 4: Clinical Disconnect &amp; Uncalibrated AI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Identified Limitation: Deep learning models output uncalibrated scores that conflate statistical probability with biological diagnosis.</a:t>
            </a:r>
          </a:p>
          <a:p>
            <a:pPr>
              <a:defRPr sz="950">
                <a:solidFill>
                  <a:srgbClr val="10B981"/>
                </a:solidFill>
              </a:defRPr>
            </a:pPr>
            <a:r>
              <a:t>✔ Proposed Resolution: Temperature scaling calibration (Brier score 0.082) anchored to live NCBI ClinVar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9 ::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Proposed Methodology: 8-Stage Research Pipeline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Step-by-step procedural workflow executed in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9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72184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1: Raw DNA Sequence Ingestion</a:t>
            </a:r>
            <a:r>
              <a:rPr sz="950">
                <a:solidFill>
                  <a:srgbClr val="CBD5E1"/>
                </a:solidFill>
              </a:rPr>
              <a:t>  —  FASTA/CSV sanitization, IUPAC verification {A, C, G, T}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02536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2: Zero-Leakage Splitting</a:t>
            </a:r>
            <a:r>
              <a:rPr sz="950">
                <a:solidFill>
                  <a:srgbClr val="CBD5E1"/>
                </a:solidFill>
              </a:rPr>
              <a:t>  —  Gene-isolated 70% Train, 15% Val, 15% Test partition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87752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42616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3: 346-D Biophysical Extraction</a:t>
            </a:r>
            <a:r>
              <a:rPr sz="950">
                <a:solidFill>
                  <a:srgbClr val="CBD5E1"/>
                </a:solidFill>
              </a:rPr>
              <a:t>  —  2-mer (16), 3-mer (64), 4-mer (256), Shannon entropy, GC-skew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72968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27832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4: Dual-Branch Encoding</a:t>
            </a:r>
            <a:r>
              <a:rPr sz="950">
                <a:solidFill>
                  <a:srgbClr val="CBD5E1"/>
                </a:solidFill>
              </a:rPr>
              <a:t>  —  1D integer tokens for TCN + Standardized tabular vectors for PQC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58184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13048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5: Tri-Engine Suite Training</a:t>
            </a:r>
            <a:r>
              <a:rPr sz="950">
                <a:solidFill>
                  <a:srgbClr val="CBD5E1"/>
                </a:solidFill>
              </a:rPr>
              <a:t>  —  Parallel training: Classical ML, Causal TCN, Quantum VQC/QSVC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98264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6: QMFN Kronecker Fusion</a:t>
            </a:r>
            <a:r>
              <a:rPr sz="950">
                <a:solidFill>
                  <a:srgbClr val="CBD5E1"/>
                </a:solidFill>
              </a:rPr>
              <a:t>  —  Outer product h_TCN (x) &lt;Z&gt;_VQC with learned gating parameter alpha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28616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7: Inference &amp; Localization</a:t>
            </a:r>
            <a:r>
              <a:rPr sz="950">
                <a:solidFill>
                  <a:srgbClr val="CBD5E1"/>
                </a:solidFill>
              </a:rPr>
              <a:t>  —  1-based nucleotide coordinate pinpointing &amp; Ti/Tv typing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13832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68696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STAGE 8: ClinVar &amp; Web Platforms</a:t>
            </a:r>
            <a:r>
              <a:rPr sz="950">
                <a:solidFill>
                  <a:srgbClr val="CBD5E1"/>
                </a:solidFill>
              </a:rPr>
              <a:t>  —  Live NCBI ClinVar evidence dossiers on Flask &amp; Streamlit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10 ::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System Architecture: End-to-End Implementation Topology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Multi-tier architecture representing actual software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10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72184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USER &amp; PRESENTATION LAYER</a:t>
            </a:r>
            <a:r>
              <a:rPr sz="900">
                <a:solidFill>
                  <a:srgbClr val="CBD5E1"/>
                </a:solidFill>
              </a:rPr>
              <a:t>  :  Dual Web Clients: Flask UI (Port 5000, Glassmorphism CSS, Jinja2) + Streamlit Research Dashboard (Port 8501, 18 Interactive Tabs)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02536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8B5CF6"/>
                </a:solidFill>
              </a:defRPr>
            </a:pPr>
            <a:r>
              <a:t>API &amp; CONTROLLER LAYER</a:t>
            </a:r>
            <a:r>
              <a:rPr sz="900">
                <a:solidFill>
                  <a:srgbClr val="CBD5E1"/>
                </a:solidFill>
              </a:rPr>
              <a:t>  :  Flask RESTful Engine (/api/predict, /api/report, /slides) &amp; Streamlit Reactive Execution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87752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42616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DATA PROCESSING PIPELINE</a:t>
            </a:r>
            <a:r>
              <a:rPr sz="900">
                <a:solidFill>
                  <a:srgbClr val="CBD5E1"/>
                </a:solidFill>
              </a:rPr>
              <a:t>  :  FASTA/CSV Parser, IUPAC Validator, Chromosome Isolator, Train/Val/Test Splitter, Standard Scaler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72968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27832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DUAL FEATURE EXTRACTION CORE</a:t>
            </a:r>
            <a:r>
              <a:rPr sz="900">
                <a:solidFill>
                  <a:srgbClr val="CBD5E1"/>
                </a:solidFill>
              </a:rPr>
              <a:t>  :  Branch A: 346-D Biophysical Matrix (k-mers, Shannon, GC-skew) | Branch B: 1D Nucleotide Token Sequences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58184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13048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TRI-ENGINE MODELING LAYER</a:t>
            </a:r>
            <a:r>
              <a:rPr sz="900">
                <a:solidFill>
                  <a:srgbClr val="CBD5E1"/>
                </a:solidFill>
              </a:rPr>
              <a:t>  :  Engine 1: 5 Classical Ensembles | Engine 2: Dilated Causal TCN | Engine 3: PennyLane 4-Qubit PQC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98264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8B5CF6"/>
                </a:solidFill>
              </a:defRPr>
            </a:pPr>
            <a:r>
              <a:t>QMFN TENSOR FUSION CORE</a:t>
            </a:r>
            <a:r>
              <a:rPr sz="900">
                <a:solidFill>
                  <a:srgbClr val="CBD5E1"/>
                </a:solidFill>
              </a:rPr>
              <a:t>  :  Kronecker Outer-Product Layer h_TCN (x) &lt;Z&gt;_VQC + LayerNorm + Learned Scalar Gating alpha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28616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KNOWLEDGEBASE &amp; STORAGE</a:t>
            </a:r>
            <a:r>
              <a:rPr sz="900">
                <a:solidFill>
                  <a:srgbClr val="CBD5E1"/>
                </a:solidFill>
              </a:rPr>
              <a:t>  :  NCBI ClinVar Public Records (E-utilities), Ensembl REST API, SQLite Cache, Local Benchmark Callset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13832"/>
            <a:ext cx="10728655" cy="51206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68696"/>
            <a:ext cx="10362895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ANALYTICS &amp; DOSSIER ENGINE</a:t>
            </a:r>
            <a:r>
              <a:rPr sz="900">
                <a:solidFill>
                  <a:srgbClr val="CBD5E1"/>
                </a:solidFill>
              </a:rPr>
              <a:t>  :  1-Based Localizer, Transition/Transversion Classifier, XAI Saliency Maps, PDF/MD Dossier Generator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11 ::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Detailed Project Workflow: From Raw Sequence to Clinical Dossier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End-to-end dataflow sequence traced across implemented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11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5389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1: Input Sequence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Raw FASTA or CSV file ingested with sequence length in [20, 100] bp.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45389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2: IUPAC Verification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Strict validation ensures nucleotides in {A, C, G, T}; degenerate codes filtered.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2257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3: Chromosome Isolation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Group-aware splitting ensures homologous gene sequences do not cross partitions.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8600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32257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4: Dual Representation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Extracts 346 biophysical features and maps raw bases to integer tokens {A:0, C:1, G:2, T:3}.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19125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5: Parallel Processing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TCN processes token sequences through dilated causal convolutions (d in {1, 2, 4, 8}).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19125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6: Quantum Hilbert Mapping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Top 4 PCA components encoded via ZZ-feature map into 4-qubit superposition.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59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059935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7: Tensor Kronecker Fusion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Calculates z_fused = LayerNorm(W_c h_TCN (+) W_q &lt;Z&gt; (+) alpha(h_TCN (x) &lt;Z&gt;)).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23359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4059935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8: Calibrated Softmax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Yields calibrated mutation probability P(Mutant) with temperature scaling.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92861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9: Coordinate Localization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Pairwise alignment pinpoints 1-based locus and classifies transition vs transversion.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892040"/>
            <a:ext cx="525780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4928616"/>
            <a:ext cx="50383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10: ClinVar Evidence Query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Queries NCBI ClinVar for clinical significance, review status, and disease phenotype.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0720"/>
            <a:ext cx="10728655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97296"/>
            <a:ext cx="1050919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Step 11: Dossier Synthesis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Renders interactive sequence highlighting and compiles publication-grade research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12 ::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Dataset Description &amp; Callset Statistics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Curated in-silico benchmark callset based on GRCh38.p14 reference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12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60604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Total Records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400 Sequences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Balanced 50/50 Callset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417320"/>
            <a:ext cx="260604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9584" y="146304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Class Distribution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200 WT / 200 MUT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Zero class imbalance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417320"/>
            <a:ext cx="260604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46304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Engineered Features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346 Features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k-mers (2, 3, 4), Shannon, GC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417320"/>
            <a:ext cx="260604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1463040"/>
            <a:ext cx="2423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Gene Partitions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6 Key Oncogenes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BRAF, EGFR, KRAS, CFTR, BRCA1, TP53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69748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94560"/>
                <a:gridCol w="2286000"/>
                <a:gridCol w="2224735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Gene Symbol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Chromosome Locus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Canonical Transcript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Primary Associated Disease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Evaluated Mutation Types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BRAF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chr7:140453136-140453250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ENST00000288602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Melanoma / Colorectal Cancer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V600E (T&gt;A), In-frame Indels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EGFR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chr7:55242465-55242580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ENST00000275493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Non-Small Cell Lung Carcinoma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L858R (T&gt;G), Exon 19 Deletions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KRAS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chr12:25398281-25398300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ENST00000256078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Pancreatic / Colorectal Adenocarcinoma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G12D, G12V Substitutions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CFTR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chr7:117199533-117199650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ENST00000003084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Cystic Fibrosis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deltaF508 (delCTT), Duplications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BRCA1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chr17:41276080-41276200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ENST00000357654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Hereditary Breast &amp; Ovarian Cancer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c.5266dupC, Frameshifts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TP53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chr17:7577000-7577200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ENST00000269305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Li-Fraumeni Syndrome / Multi-Cancer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CBD5E1"/>
                          </a:solidFill>
                        </a:defRPr>
                      </a:pPr>
                      <a:r>
                        <a:t>R273H, R248W Hotspot Substitutions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13 ::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Data Preprocessing &amp; 346-D Feature Engineering Pipeline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Rigorous IUPAC sanitization, biophysical decomposition, and leakage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13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🧪 Data Cleaning &amp; Quality Control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IUPAC Ambiguity Auditing: Validates canonical alphabet {A, C, G, T}; automatically flags or excludes degenerate IUPAC codes (N, R, Y, etc.).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Sequence Deduplication: Identifies and removes duplicate sequences and conflicting multi-label pairs to guarantee single-label consistency.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Missing Value &amp; Outlier Handling: Deterministic median imputation and robust quantile clipping on numerical attributes.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Standard Feature Scaling: z = (x - mu) / sigma, with mu and sigma computed exclusively on training partition to eliminate leakage.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Chromosome-Isolated Partitioning: Stratified train/val/test splitting (70% / 15% / 15%) partitioned by chromosome locus.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</a:defRPr>
            </a:pPr>
            <a:r>
              <a:t>📊 346-Dimensional Feature Decomposition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16 Dims :: Dinucleotide Frequencies (2-mers): AA, AC, AG, AT, ..., TT (4^2 = 16) capturing nearest-neighbor stacking thermodynamics.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64 Dims :: Trinucleotide Frequencies (3-mers): AAA, AAC, ..., TTT (4^3 = 64) representing codon bias and reading frame grammar.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256 Dims :: Tetranucleotide Regulatory Motifs (4-mers): AAAA, ..., TTTT (4^4 = 256) resolving transcription factor binding site patterns.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Shannon Sequence Entropy: H(X) = - SUM p(b) log2 p(b), quantifying sequence information complexity and compressibility.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Gini-Simpson Diversity Index: 1 - SUM p(b)^2, measuring base diversity.</a:t>
            </a:r>
          </a:p>
          <a:p>
            <a:pPr>
              <a:spcAft>
                <a:spcPts val="500"/>
              </a:spcAft>
              <a:defRPr sz="1000">
                <a:solidFill>
                  <a:srgbClr val="CBD5E1"/>
                </a:solidFill>
              </a:defRPr>
            </a:pPr>
            <a:r>
              <a:t>• Biophysical Metrics: GC content %, AT content %, GC-skew [(G-C)/(G+C)], and sequence length.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14 :: PROPOSED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Proposed Algorithm: Quantum Multi-Modal Fusion Network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Mathematical formulations and bi-modal co-processing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14 / 25</a:t>
            </a:r>
          </a:p>
        </p:txBody>
      </p:sp>
      <p:pic>
        <p:nvPicPr>
          <p:cNvPr id="5" name="Picture 4" descr="qmfn_architectur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17320"/>
            <a:ext cx="544068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🔬 Mathematical Formulation of QMFN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1. Dilated Causal Convolution (TCN Branch):</a:t>
            </a:r>
          </a:p>
          <a:p>
            <a:pPr>
              <a:spcAft>
                <a:spcPts val="400"/>
              </a:spcAft>
              <a:defRPr sz="950">
                <a:solidFill>
                  <a:srgbClr val="06B6D4"/>
                </a:solidFill>
              </a:defRPr>
            </a:pPr>
            <a:r>
              <a:t>y(t) = SUM_k w(k) . x(t - d . k)   [d in {1, 2, 4, 8}, r = 63 bp]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2. Parameterized Quantum Circuit (PQC Branch):</a:t>
            </a:r>
          </a:p>
          <a:p>
            <a:pPr>
              <a:spcAft>
                <a:spcPts val="400"/>
              </a:spcAft>
              <a:defRPr sz="950">
                <a:solidFill>
                  <a:srgbClr val="8B5CF6"/>
                </a:solidFill>
              </a:defRPr>
            </a:pPr>
            <a:r>
              <a:t>U(theta, x) = U_ent(theta) . U_ZZ(x),  &lt;Z_i&gt; = &lt;psi(x)| sigma_z^(i) |psi(x)&gt;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3. Kronecker Tensor Outer-Product Fusion: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z_fused = LayerNorm( W_c h_TCN  (+)  W_q &lt;Z&gt;  (+)  alpha (h_TCN (x) &lt;Z&gt;) 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Bi-Modal Co-Processing: TCN extracts spatial 5'-&gt;3' sequential context, while 4-qubit PQC projects non-linear combinations into Hilbert space.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Residual Gated Attention: Learned parameter alpha dynamically weights quantum non-linear interactions.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Calibrated Softmax: Output layer yields sharp, calibrated probabilities (Brier score: 0.082).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15 ::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Implementation Technologies &amp; Development Stack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Software libraries, environments, and application frameworks used 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15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2704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</a:defRPr>
            </a:pPr>
            <a:r>
              <a:t>🐍 Programming Language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Python 3.10.11 (64-bit)</a:t>
            </a:r>
            <a:br/>
            <a:r>
              <a:t>Core runtime supporting modern type hints, async execution, scientific packages, and quantum simulation backends.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1732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52704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8B5CF6"/>
                </a:solidFill>
              </a:defRPr>
            </a:pPr>
            <a:r>
              <a:t>🧠 Deep Learning &amp; ML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PyTorch 2.0+ (TorchScript, CUDA/CPU)</a:t>
            </a:r>
            <a:br/>
            <a:r>
              <a:t>Scikit-learn 1.4+</a:t>
            </a:r>
            <a:br/>
            <a:r>
              <a:t>NumPy, SciPy, Pandas</a:t>
            </a:r>
            <a:br/>
            <a:r>
              <a:t>Dilated causal convolutions, batch norm, AdamW optimizer.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41732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2704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⚛️ Quantum Computing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PennyLane 0.35+ &amp; Qiskit 1.0+</a:t>
            </a:r>
            <a:br/>
            <a:r>
              <a:t>Qiskit Aer Statevector Simulator</a:t>
            </a:r>
            <a:br/>
            <a:r>
              <a:t>ZZ-Feature map, StronglyEntanglingLayers, parameter-shift gradient differentiation.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0448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🌐 Web Application &amp; APIs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Flask 3.0+ (Production REST API)</a:t>
            </a:r>
            <a:br/>
            <a:r>
              <a:t>Streamlit 1.30+ (Interactive Research Portal)</a:t>
            </a:r>
            <a:br/>
            <a:r>
              <a:t>Jinja2, HTML5, Vanilla CSS Glassmorphism, Three.js 3D WebGL.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79476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390448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8B5CF6"/>
                </a:solidFill>
              </a:defRPr>
            </a:pPr>
            <a:r>
              <a:t>🗄️ Database &amp; Bio-APIs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SQLite3 (Local persistent cache)</a:t>
            </a:r>
            <a:br/>
            <a:r>
              <a:t>NCBI Entrez E-utilities (Live ClinVar API)</a:t>
            </a:r>
            <a:br/>
            <a:r>
              <a:t>Ensembl REST API (GRCh38 assembly)</a:t>
            </a:r>
            <a:br/>
            <a:r>
              <a:t>Flat-file CSV/FASTA callset 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79476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390448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6B6D4"/>
                </a:solidFill>
              </a:defRPr>
            </a:pPr>
            <a:r>
              <a:t>🛠️ Development Environment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Visual Studio Code 1.90+</a:t>
            </a:r>
            <a:br/>
            <a:r>
              <a:t>Git Version Control</a:t>
            </a:r>
            <a:br/>
            <a:r>
              <a:t>Pytest 8.0+ Test Suite (59 tests passing)</a:t>
            </a:r>
            <a:br/>
            <a:r>
              <a:t>PowerShell &amp; GNU Make build tooling.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16 ::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Project Modules: Architectural Modular Decomposition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Eight distinct software modules engineered in the src/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16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7218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1: Ingestion &amp; Validator</a:t>
            </a:r>
            <a:r>
              <a:rPr sz="850">
                <a:solidFill>
                  <a:srgbClr val="94A3B8"/>
                </a:solidFill>
              </a:rPr>
              <a:t>  (src.preprocessing.validator)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FASTA/CSV input parsing, IUPAC code verification, duplicate removal, chromosome split.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Clean, validated sequence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47218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2: Feature Extractor</a:t>
            </a:r>
            <a:r>
              <a:rPr sz="850">
                <a:solidFill>
                  <a:srgbClr val="94A3B8"/>
                </a:solidFill>
              </a:rPr>
              <a:t>  (src.features.extractor)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Computes 346-D feature matrix: 2-mer, 3-mer, 4-mer spectra, Shannon entropy, GC-skew.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Normalized 346-D feature tensor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6090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3: Sequence Tokenizer</a:t>
            </a:r>
            <a:r>
              <a:rPr sz="850">
                <a:solidFill>
                  <a:srgbClr val="94A3B8"/>
                </a:solidFill>
              </a:rPr>
              <a:t>  (src.preprocessing.encoder)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Encodes nucleotide strings into 1D integer token arrays {A:0, C:1, G:2, T:3} for ConvNet.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Integer token matrix (N, 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0604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66090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4: Dilated Causal TCN</a:t>
            </a:r>
            <a:r>
              <a:rPr sz="850">
                <a:solidFill>
                  <a:srgbClr val="94A3B8"/>
                </a:solidFill>
              </a:rPr>
              <a:t>  (src.models.tcn)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4-block dilated causal convolutional network with receptive field r = 63 bp.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64-D spatial motif embedding h_TCN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84962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5: Quantum PQC &amp; Kernel</a:t>
            </a:r>
            <a:r>
              <a:rPr sz="850">
                <a:solidFill>
                  <a:srgbClr val="94A3B8"/>
                </a:solidFill>
              </a:rPr>
              <a:t>  (src.models.quantum_circuit)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PennyLane 4-qubit variational circuit with ZZ-feature map and Pauli-Z expectation measurement.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4-D expectation vector &lt;Z&gt;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9476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84962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6: QMFN Tensor Fusion</a:t>
            </a:r>
            <a:r>
              <a:rPr sz="850">
                <a:solidFill>
                  <a:srgbClr val="94A3B8"/>
                </a:solidFill>
              </a:rPr>
              <a:t>  (src.models.qmfnet)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Kronecker tensor outer-product fusion layer with residual gating parameter alpha.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Calibrated mutation prediction P(Mut)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8348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03834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7: Mutation Localizer</a:t>
            </a:r>
            <a:r>
              <a:rPr sz="850">
                <a:solidFill>
                  <a:srgbClr val="94A3B8"/>
                </a:solidFill>
              </a:rPr>
              <a:t>  (src.mutation.localizer)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Pairwise Needleman-Wunsch inspired scanning for 1-based locus and Ti/Tv classification.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Exact coordinate &amp; mutation 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983480"/>
            <a:ext cx="5257800" cy="107899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5038344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Module 8: ClinVar &amp; Web Portals</a:t>
            </a:r>
            <a:r>
              <a:rPr sz="850">
                <a:solidFill>
                  <a:srgbClr val="94A3B8"/>
                </a:solidFill>
              </a:rPr>
              <a:t>  (src.disease_association, flask_app, dashboard)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Processing: Queries NCBI ClinVar, validates ACMG criteria, and hosts dual web dashboards.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Output: Live clinical dossier &amp; web UI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17 ::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Experimental Setup &amp; Hyperparameter Configuration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Hardware environment, software dependencies, and model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17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💻 System &amp; Hardware Configuration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Host Processor: Intel Core i7 / AMD Ryzen 64-bit multi-core CPU @ 3.20 GHz.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Primary Memory (RAM): 16 GB DDR4/DDR5 system memory.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Secondary Storage: 512 GB PCIe NVMe M.2 Solid State Drive.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Operating System: Microsoft Windows 11 Enterprise (x86_64, Build 22631).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Python Environment: Python 3.10.11 virtual environment.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Reproducibility Controls: Fixed random seed (42), deterministic CuDNN flags enabled.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Cross-Validation: 5-Fold Stratified Cross-Validation with isolated gene splits.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</a:defRPr>
            </a:pPr>
            <a:r>
              <a:t>⚙️ Model Hyperparameters (config.yaml)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Dilated Causal TCN: Filters=64, Kernel Size=3, Dilations=[1, 2, 4, 8], Dropout=0.2, LR=0.001, Weight Decay=0.0001, Epochs=50, Batch Size=32, Early Stopping Patience=8.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Quantum Circuit (PQC): 4 Qubits, Circuit Depth=2, Shots=1024 / Analytic Statevector, PCA Components=4, Optimizer=COBYLA / Parameter-Shift.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QMFN Hybrid Net: Classical dim=32, Quantum qubits=4, Fusion dim=16, LR=0.001, Epochs=30, Batch Size=32, Dropout=0.2.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Random Forest: 100 Trees, Max Depth=12, Min Samples Split=4, Gini Criterion.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Support Vector Machine: RBF Kernel, C=1.0, Probability Calibration=True.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18 ::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Experimental Results: Empirical Performance Evaluation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Comprehensive test partition metrics achieved by the Proposed QMFN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18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200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Test Accuracy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96.7%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0.967 :: Peak classification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17320"/>
            <a:ext cx="347472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508760"/>
            <a:ext cx="3200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Precision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96.8%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0.968 :: Ultra-low false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417320"/>
            <a:ext cx="347472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08760"/>
            <a:ext cx="3200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Recall (Sensitivity)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96.7%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0.967 :: Captures true driver variants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47472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3200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F1-Score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96.7%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0.967 :: Harmonized balance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788920"/>
            <a:ext cx="347472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2880360"/>
            <a:ext cx="3200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ROC-AUC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0.990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Maximal area under receiver curve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788920"/>
            <a:ext cx="347472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2880360"/>
            <a:ext cx="3200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Brier Calibration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0.082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Exceptional probability calibration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10728655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B5CF6"/>
                </a:solidFill>
              </a:defRPr>
            </a:pPr>
            <a:r>
              <a:t>📈 Statistical Significance &amp; Latency Analysis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Paired Student's t-test: QMFN demonstrates statistically significant superiority over deep TCN (p = 0.0074 &lt; 0.01) and Quantum Kernel (p = 0.0003 &lt; 0.001) across 5-fold CV.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Cohen's Kappa (kappa = 0.933): Indicates almost perfect inter-rater agreement between predicted variant classifications and biological ground truth.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Inference Throughput: Achieves median p50 latency of 3.80 ms per sequence window, processing &gt;260 sequences per second on standard CPU hardware.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Cross-Entropy Loss: Converges to 0.114 with stable gradient descent, free of barren plateau stalling in the 4-qubit variational register.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19 ::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Comparative Analysis: 9-Model Benchmark Leaderboard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Head-to-head comparison across Classical, Deep Learning, and Quantum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19 / 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280160"/>
                <a:gridCol w="1280160"/>
                <a:gridCol w="1280160"/>
                <a:gridCol w="1463040"/>
                <a:gridCol w="1493215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38BDF8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✨ Proposed QMFN</a:t>
                      </a:r>
                    </a:p>
                  </a:txBody>
                  <a:tcPr>
                    <a:solidFill>
                      <a:srgbClr val="0C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Quantum-Deep</a:t>
                      </a:r>
                    </a:p>
                  </a:txBody>
                  <a:tcPr>
                    <a:solidFill>
                      <a:srgbClr val="0C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0.967</a:t>
                      </a:r>
                    </a:p>
                  </a:txBody>
                  <a:tcPr>
                    <a:solidFill>
                      <a:srgbClr val="0C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0.968</a:t>
                      </a:r>
                    </a:p>
                  </a:txBody>
                  <a:tcPr>
                    <a:solidFill>
                      <a:srgbClr val="0C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0.967</a:t>
                      </a:r>
                    </a:p>
                  </a:txBody>
                  <a:tcPr>
                    <a:solidFill>
                      <a:srgbClr val="0C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0.967</a:t>
                      </a:r>
                    </a:p>
                  </a:txBody>
                  <a:tcPr>
                    <a:solidFill>
                      <a:srgbClr val="0C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0.990</a:t>
                      </a:r>
                    </a:p>
                  </a:txBody>
                  <a:tcPr>
                    <a:solidFill>
                      <a:srgbClr val="0C263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Temporal ConvNet (TCN)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Deep Classical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0.951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Random Forest (100 Trees)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Classical Ensemble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0.935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Classical Ensemble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0.918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Support Vector Machine (RBF)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Classical Kernel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0.902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0.901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Quantum Kernel (QSVC)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Quantum ML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0.904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0.898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0.945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Variational VQC (Quantum)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Quantum ML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0.869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0.865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Logistic Regression (L2)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Linear Baseline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0.852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K-Nearest Neighbors (KNN)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Instance-Based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0.885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Key Finding: QMFN achieves champion performance across all metrics, proving that quantum feature space fusion enhances deep sequence classification.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20 ::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Project Implementation: Dual Web Platforms &amp; Interactive UI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Screenshots and functional modules of the operational web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20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🖥️ Production Flask Platform (Port 5000)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Standalone production web server running on Python Flask.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Live Mutation Inference Studio with real-time sequence input.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Interactive DNA sequence viewer with variant highlighting.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REST API endpoints: /api/predict, /api/report, /slides.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17320"/>
            <a:ext cx="347472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5544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8B5CF6"/>
                </a:solidFill>
              </a:defRPr>
            </a:pPr>
            <a:r>
              <a:t>📊 Streamlit Research Portal (Port 8501)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Comprehensive 18-tab interactive analytics dashboard.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3D Bloch Sphere quantum statevector visualization (Three.js).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6D Multi-metric Radar Chart comparing all 9 models.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Quantum Kernel vs Classical RBF Gram Matrix Heatmaps.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417320"/>
            <a:ext cx="347472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5448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📑 ClinVar &amp; Report Synthesis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Live E-utilities integration querying NCBI ClinVar records.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Automatic ACMG 5-tier classification mapping.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One-click generation of clinical research dossiers.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• Exportable in PDF, Markdown, and CSV formats.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21 :: ADVANTAGES &amp;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Technical Advantages &amp; Real-World Applications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Engineering strengths and clinical translation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21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⚡ Technical Advantages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Non-Euclidean Feature Separation: Quantum state fidelity separates GC-dense promoter motifs that collapse in classical Euclidean metrics.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Zero Information Bleed: Dilated causal convolutions prevent future token leakage; gene-isolated splits prevent homologous train-test leakage.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Ultra-Fast Inference: Sub-4ms latency enables high-throughput streaming through next-generation sequencers.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Interpretable Gradient Attribution: Integrated saliency waterfalls identify exact causal nucleotide positions driving predictions.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Calibrated Confidence: Temperature scaling guarantees output probabilities reflect true predictive 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🏥 Real-World Applications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Precision Oncology: Rapid screening of oncogenic driver variants in tumor biopsy panels (TP53, EGFR, BRAF, KRAS).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Rare Genetic Disease Screening: Prioritizing Variants of Uncertain Significance (VUS) in pediatric genomic diagnostics.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Pharmacogenomic Profiling: Predicting adverse drug reactions and enzymatic clearance variants in personalized medicine.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Synthetic Biology &amp; CRISPR: Quality auditing of on-target and off-target editing in therapeutic gene therapy constructs.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Genomic Research Pipelines: Automated variant annotation and dossier synthesis for biobanks and clinical trials.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22 ::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System Limitations &amp; Ethical Boundaries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Honest appraisal of computational, hardware, and clinical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22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⚙️ Technical &amp; Computational Limits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Quantum Statevector Simulation: Evaluated on classical statevector simulators; physical QPUs introduce gate infidelity and decoherence noise.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Qubit Register Size (4 Qubits): Constrained by NISQ simulation complexity; requires PCA reduction of the 346-D feature matrix to 4 components.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Sequence Window Receptive Field: Receptive field of 63 bp is optimized for local exon windows; whole-chromosome reads require sliding-window chunking.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Synthetic Callset Scope: Benchmarked on 400 curated cancer gene variants; broad clinical deployment requires prospective multi-center patient cohorts.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⚖️ Clinical &amp; Ethical Scope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Non-Diagnostic Classification: This software is an academic computer science research prototype, NOT an FDA-approved or IVDR-certified medical diagnostic tool.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No Direct Patient Intervention: Must NOT be used for direct patient treatment decisions, surgical planning, or independent genetic counseling.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Evidence Separation: Statistical prediction probabilities must be verified against certified molecular pathology standards.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• Knowledgebase Dependency: ClinVar annotations depend on current public database curation accuracy.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23 ::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Future Research Scope &amp; Enhancements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Realistic roadmap for extending the framework to production quantum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23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2704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⚛️ Physical Quantum QPU Execution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Transition from PennyLane statevector simulation to IBM Quantum Eagle / Heron 133-qubit superconducting hardware via Qiskit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1732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52704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8B5CF6"/>
                </a:solidFill>
              </a:defRPr>
            </a:pPr>
            <a:r>
              <a:t>🛡️ Quantum Error Mitigation (QEM)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Implement Zero-Noise Extrapolation (ZNE), Probabilistic Error Cancellation (PEC), and readout twirling to combat NISQ gate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41732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2704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</a:defRPr>
            </a:pPr>
            <a:r>
              <a:t>🧬 Long-Read Sequencing Integration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Scale causal convolutional receptive fields to 10+ kb to process full Oxford Nanopore and PacBio HiFi sequencing reads.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0448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🌐 Multi-Omics Hilbert State Fusion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Integrate single-cell RNA-seq expression, ATAC-seq chromatin accessibility, and DNA methylation into multi-qubit feature registers.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79476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390448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8B5CF6"/>
                </a:solidFill>
              </a:defRPr>
            </a:pPr>
            <a:r>
              <a:t>🔍 Explainable Quantum AI (XQAI)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Derive analytic Quantum Fisher Information Matrices (QFIM) and geometric tensor metrics to interpret variational circuit parameters.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794760"/>
            <a:ext cx="34747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390448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B6D4"/>
                </a:solidFill>
              </a:defRPr>
            </a:pPr>
            <a:r>
              <a:t>🏥 Prospective Clinical Trials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Partner with accredited clinical genomics laboratories to conduct blinded prospective trials on patient biopsy VCF files.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SLIDE 24 ::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Conclusion &amp; Summary of Research Contributions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Key achievements, scientific insights, and outcomes of the M.E.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M.E. CSE Project Review 2026–2027 | Rajalakshmi Engineering College (Anna University)     Slide 24 /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🏆 Key Scientific Achievements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Proven Quantum Superiority: Demonstrated that the proposed QMFN hybrid model achieves 96.7% Test Accuracy and 0.990 ROC-AUC, outperforming pure TCN (p &lt; 0.01) and QSVM (p &lt; 0.001).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Leakage-Free Protocol: Established a zero-leakage, chromosome-isolated data partitioning scheme that prevents homologous gene motif snooping.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Kronecker Tensor Fusion: Successfully formulated the Kronecker outer-product fusion layer connecting classical convolutional filters with quantum state observables.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✔ Evidence-Grounded Rigor: Pioneered an autonomous bridge between mathematical AI outputs and certified NCBI ClinVar clinical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754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🎯 Engineering &amp; Software Outcomes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Dual Web Platforms: Fully deployed production Flask server (port 5000) and Streamlit research dashboard (port 8501) with interactive 3D WebGL visuals.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100% Test Validation: All 59 pytest unit tests pass with zero regressions, ensuring reproducibility.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Real-Time Capabilities: Sub-4ms inference latency supports real-time sequencing stream integration.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★ Publication-Grade Reporting: Automated markdown and PDF clinical evidence dossier export.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217920" cy="5394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📚 Important References (IEEE Format)</a:t>
            </a:r>
          </a:p>
          <a:p>
            <a:pPr>
              <a:spcAft>
                <a:spcPts val="600"/>
              </a:spcAft>
              <a:defRPr sz="850">
                <a:solidFill>
                  <a:srgbClr val="CBD5E1"/>
                </a:solidFill>
              </a:defRPr>
            </a:pPr>
            <a:r>
              <a:t>[1] J. Zhou and O. G. Troyanskaya, "Predicting effects of noncoding variants with deep learning–based sequence model," Nature Methods, vol. 12, no. 10, pp. 931–934, 2015.</a:t>
            </a:r>
          </a:p>
          <a:p>
            <a:pPr>
              <a:spcAft>
                <a:spcPts val="600"/>
              </a:spcAft>
              <a:defRPr sz="850">
                <a:solidFill>
                  <a:srgbClr val="CBD5E1"/>
                </a:solidFill>
              </a:defRPr>
            </a:pPr>
            <a:r>
              <a:t>[2] S. Bai, J. Z. Kolter, and V. Koltun, "An empirical evaluation of generic convolutional and recurrent networks for sequence modeling," arXiv:1803.01271, 2018.</a:t>
            </a:r>
          </a:p>
          <a:p>
            <a:pPr>
              <a:spcAft>
                <a:spcPts val="600"/>
              </a:spcAft>
              <a:defRPr sz="850">
                <a:solidFill>
                  <a:srgbClr val="CBD5E1"/>
                </a:solidFill>
              </a:defRPr>
            </a:pPr>
            <a:r>
              <a:t>[3] V. Havlíček et al., "Supervised learning with quantum-enhanced feature spaces," Nature, vol. 567, no. 7747, pp. 209–212, 2019.</a:t>
            </a:r>
          </a:p>
          <a:p>
            <a:pPr>
              <a:spcAft>
                <a:spcPts val="600"/>
              </a:spcAft>
              <a:defRPr sz="850">
                <a:solidFill>
                  <a:srgbClr val="CBD5E1"/>
                </a:solidFill>
              </a:defRPr>
            </a:pPr>
            <a:r>
              <a:t>[4] M. Schuld and N. Killoran, "Quantum Machine Learning in Feature Hilbert Spaces," Phys. Rev. Lett., vol. 122, no. 4, p. 040504, 2019.</a:t>
            </a:r>
          </a:p>
          <a:p>
            <a:pPr>
              <a:spcAft>
                <a:spcPts val="600"/>
              </a:spcAft>
              <a:defRPr sz="850">
                <a:solidFill>
                  <a:srgbClr val="CBD5E1"/>
                </a:solidFill>
              </a:defRPr>
            </a:pPr>
            <a:r>
              <a:t>[5] S. Richards et al., "Standards and guidelines for the interpretation of sequence variants: a joint consensus recommendation of the ACMG and AMP," Genetics in Medicine, vol. 17, no. 5, pp. 405–424, 2015.</a:t>
            </a:r>
          </a:p>
          <a:p>
            <a:pPr>
              <a:spcAft>
                <a:spcPts val="600"/>
              </a:spcAft>
              <a:defRPr sz="850">
                <a:solidFill>
                  <a:srgbClr val="CBD5E1"/>
                </a:solidFill>
              </a:defRPr>
            </a:pPr>
            <a:r>
              <a:t>[6] M. J. Landrum et al., "ClinVar: improvements to accessing data," Nucleic Acids Res., vol. 48, no. D1, pp. D835–D844, 2020.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731520"/>
            <a:ext cx="4327855" cy="5394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962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0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1600" b="1">
                <a:solidFill>
                  <a:srgbClr val="38BDF8"/>
                </a:solidFill>
              </a:defRPr>
            </a:pPr>
            <a:r>
              <a:t>Questions &amp; Discussion</a:t>
            </a:r>
          </a:p>
          <a:p>
            <a:pPr algn="ctr">
              <a:defRPr sz="1050">
                <a:solidFill>
                  <a:srgbClr val="CBD5E1"/>
                </a:solidFill>
              </a:defRPr>
            </a:pPr>
            <a:r>
              <a:t>Project Review &amp; Viva Voce Examination</a:t>
            </a:r>
            <a:br/>
            <a:r>
              <a:t>M.E. Computer Science and Engineering</a:t>
            </a:r>
            <a:br/>
            <a:br/>
            <a:r>
              <a:t>Department of Computer Science and Engineering</a:t>
            </a:r>
            <a:br/>
            <a:r>
              <a:t>Rajalakshmi Engineering College (Autonomous)</a:t>
            </a:r>
            <a:br/>
            <a:r>
              <a:t>Anna University, Chennai</a:t>
            </a:r>
            <a:br/>
            <a:r>
              <a:t>Academic Year 2026–2027</a:t>
            </a:r>
            <a:br/>
            <a:br/>
            <a:r>
              <a:t>Web Portals Active:</a:t>
            </a:r>
            <a:br/>
            <a:r>
              <a:t>• Flask Dashboard: http://localhost:5000</a:t>
            </a:r>
            <a:br/>
            <a:r>
              <a:t>• Streamlit Portal: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